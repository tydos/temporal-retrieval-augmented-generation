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oboto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EC793A-18C6-46D3-9156-B5B88BBD0A71}">
  <a:tblStyle styleId="{F5EC793A-18C6-46D3-9156-B5B88BBD0A7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Mon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fddf0170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fddf0170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fddf0170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fddf0170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fddf0170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fddf0170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fddf01702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fddf01702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fddf0170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fddf0170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fddf01702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fddf01702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fddf0170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fddf0170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fddf01702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fddf0170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65375" y="381525"/>
            <a:ext cx="81408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</a:rPr>
              <a:t>Time Aware Retriever - Injecting Temporal I</a:t>
            </a:r>
            <a:r>
              <a:rPr b="1" lang="en" sz="2800">
                <a:solidFill>
                  <a:schemeClr val="dk1"/>
                </a:solidFill>
              </a:rPr>
              <a:t>nformation using Negative Hard Mining</a:t>
            </a:r>
            <a:endParaRPr b="1"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 sz="2800">
                <a:solidFill>
                  <a:schemeClr val="dk1"/>
                </a:solidFill>
              </a:rPr>
            </a:br>
            <a:r>
              <a:rPr lang="en" sz="1650">
                <a:solidFill>
                  <a:schemeClr val="dk1"/>
                </a:solidFill>
              </a:rPr>
              <a:t>[Group 11]: Sonith Bingi, Manoj Arulmurugan, Prasad Jawale, Gauri Patki</a:t>
            </a:r>
            <a:endParaRPr sz="1650">
              <a:solidFill>
                <a:schemeClr val="dk1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15040" r="11982" t="0"/>
          <a:stretch/>
        </p:blipFill>
        <p:spPr>
          <a:xfrm>
            <a:off x="701948" y="2355892"/>
            <a:ext cx="2988692" cy="2235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32303" l="0" r="0" t="34815"/>
          <a:stretch/>
        </p:blipFill>
        <p:spPr>
          <a:xfrm>
            <a:off x="4102099" y="3183800"/>
            <a:ext cx="4281475" cy="14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5">
            <a:alphaModFix/>
          </a:blip>
          <a:srcRect b="25756" l="0" r="4415" t="30156"/>
          <a:stretch/>
        </p:blipFill>
        <p:spPr>
          <a:xfrm>
            <a:off x="5279925" y="2182226"/>
            <a:ext cx="2171558" cy="1001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356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Gap in RAG Systems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311700" y="1152475"/>
            <a:ext cx="6093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/>
              <a:t>Problem &amp; Objective</a:t>
            </a:r>
            <a:endParaRPr b="1" i="1" sz="1800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/>
              <a:t>Standard RAG treats knowledge as static.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Enable retrieval systems to </a:t>
            </a:r>
            <a:r>
              <a:rPr b="1" lang="en" sz="1800">
                <a:solidFill>
                  <a:schemeClr val="dk1"/>
                </a:solidFill>
              </a:rPr>
              <a:t>respect temporal validity</a:t>
            </a:r>
            <a:r>
              <a:rPr lang="en" sz="1800">
                <a:solidFill>
                  <a:schemeClr val="dk1"/>
                </a:solidFill>
              </a:rPr>
              <a:t> and retrieve information appropriate to the query's time.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/>
              <a:t>Current</a:t>
            </a:r>
            <a:r>
              <a:rPr b="1" lang="en" sz="1800" u="sng"/>
              <a:t> Failure Modes: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/>
              <a:t>Temporal Hallucination: Retrieving the most popular entity (e.g., Jack Dorsey) regardless of the query date.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/>
              <a:t>Right Fact, Wrong Time: Retrieving a 2014 World Cup document for a 2010 query due to high keyword overlap.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6405300" y="983100"/>
            <a:ext cx="2597400" cy="332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6421650" y="1152000"/>
            <a:ext cx="25974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For Example: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5394"/>
                </a:solidFill>
              </a:rPr>
              <a:t>Query: "Who was the CEO of Twitter in 2021?</a:t>
            </a:r>
            <a:r>
              <a:rPr lang="en">
                <a:solidFill>
                  <a:srgbClr val="0B5394"/>
                </a:solidFill>
              </a:rPr>
              <a:t>"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Expected Answers according to the year: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2015: Dick Costolo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2021: Jack Dorsey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2023: Linda Yaccarino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Works &amp; Limitations 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8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b="1" lang="en" u="sng">
                <a:solidFill>
                  <a:srgbClr val="000000"/>
                </a:solidFill>
              </a:rPr>
              <a:t>Contriever</a:t>
            </a:r>
            <a:endParaRPr b="1" u="sng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>
              <a:solidFill>
                <a:srgbClr val="000000"/>
              </a:solidFill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>
                <a:solidFill>
                  <a:srgbClr val="000000"/>
                </a:solidFill>
              </a:rPr>
              <a:t>Method: Retriever ptimized for semantic similarity. It completely ignores time and struggles with dynamic facts.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u="sng">
                <a:solidFill>
                  <a:schemeClr val="dk1"/>
                </a:solidFill>
              </a:rPr>
              <a:t>TempRetriever / BiTimeBERT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Method: Concatenate explicit time vectors/tokens to embeddings.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Limitation: Metadata Dependent. Fails on unstructured web text (e.g., Common Crawl) where metadata is missing or unreliable.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u="sng">
                <a:solidFill>
                  <a:schemeClr val="dk1"/>
                </a:solidFill>
              </a:rPr>
              <a:t>Standard Modular RAG</a:t>
            </a:r>
            <a:endParaRPr b="1" u="sng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Method: Separate modules for retrieval and re-ranking.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Limitation: High Latency. Relies on LLMs to summarize every retrieved document before ranking, making it too slow for real-time 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Our goal is to build an implicit time-aware retriever that does not require metadata and supports low-latency re-ranking.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184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3-Stage Time-Aware Pipeline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202800" y="1778200"/>
            <a:ext cx="8322300" cy="28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46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46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460" u="sng">
                <a:solidFill>
                  <a:schemeClr val="dk1"/>
                </a:solidFill>
              </a:rPr>
              <a:t>Stage 2: Time-Aware Fine-Tuning </a:t>
            </a:r>
            <a:endParaRPr b="1" sz="1460" u="sng">
              <a:solidFill>
                <a:schemeClr val="dk1"/>
              </a:solidFill>
            </a:endParaRPr>
          </a:p>
          <a:p>
            <a:pPr indent="-32131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>
                <a:solidFill>
                  <a:schemeClr val="dk1"/>
                </a:solidFill>
              </a:rPr>
              <a:t>Novelty: Temporal Hard Negative Mining. </a:t>
            </a:r>
            <a:r>
              <a:rPr lang="en" sz="1460">
                <a:solidFill>
                  <a:schemeClr val="dk1"/>
                </a:solidFill>
              </a:rPr>
              <a:t>Form (Ques, Pos, Neg) Triplets</a:t>
            </a:r>
            <a:endParaRPr sz="1460">
              <a:solidFill>
                <a:schemeClr val="dk1"/>
              </a:solidFill>
            </a:endParaRPr>
          </a:p>
          <a:p>
            <a:pPr indent="-32131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>
                <a:solidFill>
                  <a:schemeClr val="dk1"/>
                </a:solidFill>
              </a:rPr>
              <a:t>Mechanism: Anchor: Query (Target Year: 2010). 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460">
                <a:solidFill>
                  <a:schemeClr val="dk1"/>
                </a:solidFill>
              </a:rPr>
              <a:t>                   Positive: Document matching 2010.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460">
                <a:solidFill>
                  <a:schemeClr val="dk1"/>
                </a:solidFill>
              </a:rPr>
              <a:t>                   Negative: Document semantically identical but from 2014.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460">
                <a:solidFill>
                  <a:schemeClr val="dk1"/>
                </a:solidFill>
              </a:rPr>
              <a:t>                   </a:t>
            </a:r>
            <a:r>
              <a:rPr lang="en" sz="1460">
                <a:solidFill>
                  <a:schemeClr val="dk1"/>
                </a:solidFill>
              </a:rPr>
              <a:t>Loss: Margin Ranking Loss pushes the "Wrong Time" document away in vector space.</a:t>
            </a:r>
            <a:endParaRPr b="1" sz="1460" u="sng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460" u="sng">
                <a:solidFill>
                  <a:schemeClr val="dk1"/>
                </a:solidFill>
              </a:rPr>
              <a:t>Stage 3:</a:t>
            </a:r>
            <a:r>
              <a:rPr b="1" lang="en" sz="1460" u="sng">
                <a:solidFill>
                  <a:schemeClr val="dk1"/>
                </a:solidFill>
              </a:rPr>
              <a:t> Integration with MRAG</a:t>
            </a:r>
            <a:endParaRPr b="1" sz="1460" u="sng">
              <a:solidFill>
                <a:schemeClr val="dk1"/>
              </a:solidFill>
            </a:endParaRPr>
          </a:p>
          <a:p>
            <a:pPr indent="-32131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>
                <a:solidFill>
                  <a:schemeClr val="dk1"/>
                </a:solidFill>
              </a:rPr>
              <a:t>Question decomposition into Semantic Main Content (MC) and Time Content (TC)</a:t>
            </a:r>
            <a:endParaRPr sz="1460">
              <a:solidFill>
                <a:schemeClr val="dk1"/>
              </a:solidFill>
            </a:endParaRPr>
          </a:p>
          <a:p>
            <a:pPr indent="-32131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>
                <a:solidFill>
                  <a:schemeClr val="dk1"/>
                </a:solidFill>
              </a:rPr>
              <a:t>MRAG Reranking Hybrid Score = Product of Semantic and Temporal Score</a:t>
            </a:r>
            <a:endParaRPr sz="1460">
              <a:solidFill>
                <a:schemeClr val="dk1"/>
              </a:solidFill>
            </a:endParaRPr>
          </a:p>
          <a:p>
            <a:pPr indent="-32131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○"/>
            </a:pPr>
            <a:r>
              <a:rPr lang="en" sz="1460">
                <a:solidFill>
                  <a:schemeClr val="dk1"/>
                </a:solidFill>
              </a:rPr>
              <a:t>Replaced slow LLM summarization with fast windowing on the whole passage for Cosine Similarity Calculation</a:t>
            </a:r>
            <a:endParaRPr sz="1460">
              <a:solidFill>
                <a:schemeClr val="dk1"/>
              </a:solidFill>
            </a:endParaRPr>
          </a:p>
          <a:p>
            <a:pPr indent="-32131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○"/>
            </a:pPr>
            <a:r>
              <a:rPr lang="en" sz="1460">
                <a:solidFill>
                  <a:schemeClr val="dk1"/>
                </a:solidFill>
              </a:rPr>
              <a:t>Temporal Score </a:t>
            </a:r>
            <a:r>
              <a:rPr lang="en" sz="2160">
                <a:solidFill>
                  <a:schemeClr val="dk1"/>
                </a:solidFill>
              </a:rPr>
              <a:t>∝ </a:t>
            </a:r>
            <a:r>
              <a:rPr lang="en" sz="1460">
                <a:solidFill>
                  <a:schemeClr val="dk1"/>
                </a:solidFill>
              </a:rPr>
              <a:t>Distance between Passage Date and Question Date  </a:t>
            </a:r>
            <a:endParaRPr sz="1460">
              <a:solidFill>
                <a:schemeClr val="dk1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17951" l="4814" r="4350" t="17983"/>
          <a:stretch/>
        </p:blipFill>
        <p:spPr>
          <a:xfrm>
            <a:off x="5090725" y="184900"/>
            <a:ext cx="3820946" cy="14712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" name="Google Shape;79;p16"/>
          <p:cNvSpPr txBox="1"/>
          <p:nvPr/>
        </p:nvSpPr>
        <p:spPr>
          <a:xfrm>
            <a:off x="202800" y="899475"/>
            <a:ext cx="4952400" cy="14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 u="sng">
                <a:solidFill>
                  <a:schemeClr val="dk1"/>
                </a:solidFill>
              </a:rPr>
              <a:t>Stage 1: Synthetic Data Generation</a:t>
            </a:r>
            <a:endParaRPr b="1" sz="1450" u="sng">
              <a:solidFill>
                <a:schemeClr val="dk1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Source: FineWeb-Edu (500k passages).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Process: Used T5 to generate 15,000 "temporally anchored" questions (e.g., "What happened in 1999?") conditioned on explicit years found in text.</a:t>
            </a:r>
            <a:endParaRPr sz="145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Models &amp; Baselines</a:t>
            </a:r>
            <a:endParaRPr sz="2500"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081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Base Contriever (Baseline)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Pre-trained </a:t>
            </a:r>
            <a:r>
              <a:rPr lang="en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facebook/contriever-msmarco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Time-Aware Contriever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Our fine-tuned model trained on T5 synthetic data.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Uses Temporal Hard Negatives to learn time sensitivity.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MRAG (+Base Contriever)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Base Contriever + Sliding Window Re-ranker.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en" sz="1400">
                <a:solidFill>
                  <a:schemeClr val="dk1"/>
                </a:solidFill>
              </a:rPr>
              <a:t>Ablation:</a:t>
            </a:r>
            <a:r>
              <a:rPr lang="en" sz="1400">
                <a:solidFill>
                  <a:schemeClr val="dk1"/>
                </a:solidFill>
              </a:rPr>
              <a:t> Tests if re-ranking alone solves the problem without fine-tuning.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MRAG (+Time-Aware Contriever)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Full Pipeline.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Combines the Fine-Tuned Retriever with the MRAG Re-ranker.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73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Evaluation on Historical Data (ChroniclingAmericaQA &amp; T5)</a:t>
            </a:r>
            <a:endParaRPr sz="2420"/>
          </a:p>
        </p:txBody>
      </p:sp>
      <p:sp>
        <p:nvSpPr>
          <p:cNvPr id="91" name="Google Shape;91;p18"/>
          <p:cNvSpPr txBox="1"/>
          <p:nvPr/>
        </p:nvSpPr>
        <p:spPr>
          <a:xfrm>
            <a:off x="323850" y="1083675"/>
            <a:ext cx="816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116550" y="664775"/>
            <a:ext cx="48489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dk1"/>
                </a:solidFill>
              </a:rPr>
              <a:t>Metric:</a:t>
            </a:r>
            <a:r>
              <a:rPr b="1" lang="en" sz="13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Top-K Accuracy (Hit@1,5,10, 20,50) and Mean Reciprocal Rank (MRR@1,5,10,20) </a:t>
            </a:r>
            <a:r>
              <a:rPr lang="en" sz="1300">
                <a:solidFill>
                  <a:schemeClr val="dk1"/>
                </a:solidFill>
              </a:rPr>
              <a:t>on In-Domain and Out-of-Domain Data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/>
              <a:t>Key Analysis:</a:t>
            </a:r>
            <a:endParaRPr b="1" sz="13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 u="sng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Fine-tuning Generalizes: The model learned "time" from modern web data and successfully applied it to historical newspapers (1789-1963).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Time Aware Contriver does a better job of getting the initial passages using the full question (MC + TC)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MRAG’s Hybrid score-based Re-Ranking works </a:t>
            </a:r>
            <a:endParaRPr sz="1300"/>
          </a:p>
        </p:txBody>
      </p:sp>
      <p:graphicFrame>
        <p:nvGraphicFramePr>
          <p:cNvPr id="93" name="Google Shape;93;p18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{F5EC793A-18C6-46D3-9156-B5B88BBD0A71}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6612" y="1472488"/>
            <a:ext cx="3916349" cy="80391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5875750" y="3754600"/>
            <a:ext cx="248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Out-of-Domain Results (CAQA)</a:t>
            </a:r>
            <a:endParaRPr sz="1200"/>
          </a:p>
        </p:txBody>
      </p:sp>
      <p:sp>
        <p:nvSpPr>
          <p:cNvPr id="96" name="Google Shape;96;p18"/>
          <p:cNvSpPr txBox="1"/>
          <p:nvPr/>
        </p:nvSpPr>
        <p:spPr>
          <a:xfrm>
            <a:off x="5906075" y="2276388"/>
            <a:ext cx="248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In-</a:t>
            </a:r>
            <a:r>
              <a:rPr lang="en" sz="1200">
                <a:solidFill>
                  <a:schemeClr val="dk1"/>
                </a:solidFill>
              </a:rPr>
              <a:t>Domain Results (T5 Test Set)</a:t>
            </a:r>
            <a:endParaRPr sz="1200"/>
          </a:p>
        </p:txBody>
      </p:sp>
      <p:pic>
        <p:nvPicPr>
          <p:cNvPr id="97" name="Google Shape;97;p18" title="Screenshot 2025-12-11 at 11.41.0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600" y="3176892"/>
            <a:ext cx="8169902" cy="1524708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" name="Google Shape;98;p18"/>
          <p:cNvSpPr txBox="1"/>
          <p:nvPr/>
        </p:nvSpPr>
        <p:spPr>
          <a:xfrm>
            <a:off x="4061550" y="46712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Out-of</a:t>
            </a:r>
            <a:r>
              <a:rPr lang="en" sz="1200">
                <a:solidFill>
                  <a:schemeClr val="dk1"/>
                </a:solidFill>
              </a:rPr>
              <a:t>-Domain Results (CAQA)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Evaluation</a:t>
            </a:r>
            <a:r>
              <a:rPr lang="en"/>
              <a:t> on SQuAD (Temporal Questions)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355950" y="1017725"/>
            <a:ext cx="8520600" cy="22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Metric: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Top-K Accuracy (Hit@1,5,10) and Mean Reciprocal Rank (MRR@1,5,10)</a:t>
            </a:r>
            <a:r>
              <a:rPr lang="en">
                <a:solidFill>
                  <a:schemeClr val="dk1"/>
                </a:solidFill>
              </a:rPr>
              <a:t> on </a:t>
            </a:r>
            <a:r>
              <a:rPr lang="en">
                <a:solidFill>
                  <a:schemeClr val="dk1"/>
                </a:solidFill>
              </a:rPr>
              <a:t>Temporal SQuAD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Key Analysis:</a:t>
            </a:r>
            <a:endParaRPr b="1" u="sng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Base Competence: The baseline Contriever is already strong on SQuAD (Hit@5 = 0.921), likely due to overlap with Wikipedia pre-training data.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MRAG Gains: Re-ranking improves Hit@5 to 0.942/0.943, showing that MRAG still benefits ranking even in clean encyclopedic domains.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Time-Aware Fine-Tuning: Smaller relative gain compared to CAQA, indicating the temporal fine-tuning is most useful for noisy or historical data.</a:t>
            </a:r>
            <a:endParaRPr/>
          </a:p>
        </p:txBody>
      </p:sp>
      <p:pic>
        <p:nvPicPr>
          <p:cNvPr id="105" name="Google Shape;105;p19" title="Screenshot 2025-12-11 at 11.37.30 PM.png"/>
          <p:cNvPicPr preferRelativeResize="0"/>
          <p:nvPr/>
        </p:nvPicPr>
        <p:blipFill rotWithShape="1">
          <a:blip r:embed="rId3">
            <a:alphaModFix/>
          </a:blip>
          <a:srcRect b="0" l="0" r="51987" t="0"/>
          <a:stretch/>
        </p:blipFill>
        <p:spPr>
          <a:xfrm>
            <a:off x="1151600" y="3378050"/>
            <a:ext cx="3989849" cy="1707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6" name="Google Shape;106;p19" title="Screenshot 2025-12-11 at 11.37.30 PM.png"/>
          <p:cNvPicPr preferRelativeResize="0"/>
          <p:nvPr/>
        </p:nvPicPr>
        <p:blipFill rotWithShape="1">
          <a:blip r:embed="rId3">
            <a:alphaModFix/>
          </a:blip>
          <a:srcRect b="0" l="58242" r="10699" t="0"/>
          <a:stretch/>
        </p:blipFill>
        <p:spPr>
          <a:xfrm>
            <a:off x="5141450" y="3378050"/>
            <a:ext cx="2580951" cy="1707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Future Work 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323850" y="1083675"/>
            <a:ext cx="83817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</a:rPr>
              <a:t>Summary</a:t>
            </a:r>
            <a:r>
              <a:rPr b="1" lang="en" sz="1600" u="sng">
                <a:solidFill>
                  <a:schemeClr val="dk1"/>
                </a:solidFill>
              </a:rPr>
              <a:t>:</a:t>
            </a:r>
            <a:r>
              <a:rPr b="1"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Successfully injected implicit temporal reasoning via contrastive fine-tuning (no metadata tags required).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Sliding Window MRAG enables efficient, time-aware re-ranking using a hybrid without the latency of generative models.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/>
              <a:t>Future Work: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i="1" lang="en" sz="1600"/>
              <a:t>Implicit Temporal Reasoner: </a:t>
            </a:r>
            <a:r>
              <a:rPr lang="en" sz="1600"/>
              <a:t>We plan totrain a lightweight cross-encoder capable of inferring time intervals from context without relying on explicit digits Eg: “Post WWII”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i="1" lang="en" sz="1600"/>
              <a:t>End-to-End RAG: </a:t>
            </a:r>
            <a:r>
              <a:rPr lang="en" sz="1600"/>
              <a:t>We aim to close the loop by integrating a generative reader (e.g.,Llama-3) to evaluate end-to-end Exact Match (EM) scores.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Allows us to verify if better retrieval ranking directly translates to more accurate final answers for the user, rather than just improved recall metrics.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530525" y="1745050"/>
            <a:ext cx="8520600" cy="14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200"/>
              <a:t>Thank You!</a:t>
            </a:r>
            <a:endParaRPr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200"/>
              <a:t>Questions?</a:t>
            </a:r>
            <a:endParaRPr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